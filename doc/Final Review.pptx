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9" r:id="rId10"/>
    <p:sldId id="265" r:id="rId11"/>
    <p:sldId id="270" r:id="rId12"/>
    <p:sldId id="271" r:id="rId13"/>
    <p:sldId id="272" r:id="rId14"/>
    <p:sldId id="273" r:id="rId15"/>
    <p:sldId id="266" r:id="rId16"/>
    <p:sldId id="268" r:id="rId17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B2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135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5451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14655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78928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44813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37972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81135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88926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97284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18913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0208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59480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9407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261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3A6EA5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3657600" cy="3657600"/>
          </a:xfrm>
          <a:prstGeom prst="ellipse">
            <a:avLst/>
          </a:prstGeom>
          <a:solidFill>
            <a:srgbClr val="FF6B6B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•  FINAL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Demand Forecasting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9D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Ridge and Lasso Regression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27734" y="3520440"/>
            <a:ext cx="1906905" cy="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6949440" cy="1965960"/>
          </a:xfrm>
          <a:prstGeom prst="roundRect">
            <a:avLst>
              <a:gd name="adj" fmla="val 372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00125" y="3992881"/>
            <a:ext cx="5838825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400" b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KAIRAV VASHI</a:t>
            </a:r>
            <a:endParaRPr lang="en-US" sz="14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400" b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 2520030582</a:t>
            </a:r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8</a:t>
            </a:r>
            <a:endParaRPr lang="en-US" sz="14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400" b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Mr. Asif Shaik</a:t>
            </a:r>
            <a:endParaRPr lang="en-US" sz="14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400" b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(Assistant Professor, Department of CSE)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4178808"/>
            <a:ext cx="4389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6263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A.Y. 2026-27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E03128-A081-A77D-2113-EBDB2FE434AE}"/>
              </a:ext>
            </a:extLst>
          </p:cNvPr>
          <p:cNvSpPr txBox="1"/>
          <p:nvPr/>
        </p:nvSpPr>
        <p:spPr>
          <a:xfrm>
            <a:off x="927734" y="3196768"/>
            <a:ext cx="1125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Batch 29</a:t>
            </a:r>
            <a:endParaRPr lang="en-IN" dirty="0">
              <a:solidFill>
                <a:schemeClr val="accent3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777240" cy="77724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1603858"/>
            <a:ext cx="404165" cy="4041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141732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product's order demand on a given day using historical demand data, warehouse, product category, promotions, holidays, and petrol price — so retailers can plan inventory and procurement more accurately.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3429000"/>
            <a:ext cx="617220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914400" y="36393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Ridge &amp; Lasso?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4041648"/>
            <a:ext cx="56692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Warehouse and Product_Category (30+ categories) creates many correlated features — a classic multicollinearity scenario.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linear regression overfits under these conditions; L2 (Ridge) and L1 (Lasso) regularization directly address this.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additionally performs automatic feature selection — useful with 30+ engineered category columns.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086600" y="1417320"/>
            <a:ext cx="4480560" cy="4617720"/>
          </a:xfrm>
          <a:prstGeom prst="roundRect">
            <a:avLst>
              <a:gd name="adj" fmla="val 1224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406640" y="1691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06640" y="2148840"/>
            <a:ext cx="3886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Supervised Regression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Order_Demand (continuous)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Ridge Regression, Lasso Regression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RMSE, MAE, MAPE, R²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 model + coefficient analysis retailers can use for inventory planning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Demand Forecasting — Review 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Retail_Dataset.csv — historical daily product order demand, sourced from Kaggle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831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719072"/>
            <a:ext cx="25831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169,211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5831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06140" y="1600200"/>
            <a:ext cx="25831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06140" y="1719072"/>
            <a:ext cx="25831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06140" y="2286000"/>
            <a:ext cx="25831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25831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172200" y="1719072"/>
            <a:ext cx="25831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72200" y="2286000"/>
            <a:ext cx="25831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38260" y="1600200"/>
            <a:ext cx="25831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938260" y="1719072"/>
            <a:ext cx="25831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2,117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938260" y="2286000"/>
            <a:ext cx="25831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41248" y="3959352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42416" y="38130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Product_Code / Product_id  </a:t>
            </a: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identifiers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27648" y="3959352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28816" y="38130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 </a:t>
            </a: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categories (A, C, J, S)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41248" y="4526280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42416" y="437997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  </a:t>
            </a: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categories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27648" y="4526280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528816" y="437997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</a:t>
            </a: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records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41248" y="5093208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042416" y="49469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Order_Demand  </a:t>
            </a: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27648" y="5093208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528816" y="49469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Promo  </a:t>
            </a: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status &amp; promotion flags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41248" y="5660136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042416" y="55138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StateHoliday, SchoolHoliday  </a:t>
            </a: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indicators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327648" y="5660136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528816" y="55138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Petrol_price  </a:t>
            </a: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fuel price index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AED94B06-1DBE-1FA6-622D-5644254CF5DA}"/>
              </a:ext>
            </a:extLst>
          </p:cNvPr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Demand Forecasting — Review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Preprocessing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172090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57276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&amp; Duplicates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2286000"/>
            <a:ext cx="31546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explicitly — none found in either full-row duplicates or duplicate (Product, Date) pairs.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89120" y="137160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617720" y="1600200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icon_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421" y="172090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157276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Parsing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617720" y="2286000"/>
            <a:ext cx="31546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as M/D/YYYY; extracted Year, Month, Day, and DayOfWeek as separate numeric features.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38160" y="137160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8366760" y="1600200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icon_fil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7461" y="172090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06840" y="157276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Treatment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366760" y="2286000"/>
            <a:ext cx="31546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Order_Demand capped at the 99th percentile so that extreme bulk orders no longer dominate the loss function.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2446020" y="393192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2674620" y="4160520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icon_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5321" y="4281221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314700" y="41330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2674620" y="4846320"/>
            <a:ext cx="31546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encoded Warehouse, StateHoliday, and Product_Category.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332220" y="3937145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6560820" y="4165745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icon_trend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1521" y="4286446"/>
            <a:ext cx="261518" cy="26151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200900" y="4138313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560820" y="4851545"/>
            <a:ext cx="31546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Petrol_price standardized using StandardScaler. Important since Ridge/Lasso penalize coefficient magnitude.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Demand Forecasting — Review 2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Demand Distribution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45236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lo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57400"/>
            <a:ext cx="699516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188720"/>
            <a:ext cx="3246120" cy="4937760"/>
          </a:xfrm>
          <a:prstGeom prst="roundRect">
            <a:avLst>
              <a:gd name="adj" fmla="val 169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59536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595360" y="1920240"/>
            <a:ext cx="2697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Order_Demand is extremely right-skewed — most orders are small, but rare bulk orders reach 2.5M units.</a:t>
            </a:r>
            <a:endParaRPr lang="en-US" sz="1250" dirty="0"/>
          </a:p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untreated, these extreme values would dominate the regression loss and distort model coefficients.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Capping at the 99th percentile (right chart) produces a distribution the model can actually learn from.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Demand Forecasting — Review 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Demand by Warehouse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45236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lo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63040"/>
            <a:ext cx="699516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188720"/>
            <a:ext cx="3246120" cy="4937760"/>
          </a:xfrm>
          <a:prstGeom prst="roundRect">
            <a:avLst>
              <a:gd name="adj" fmla="val 169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8595360" y="1463040"/>
            <a:ext cx="640080" cy="64008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icon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8979" y="1616659"/>
            <a:ext cx="332842" cy="3328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9536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595360" y="2697480"/>
            <a:ext cx="2697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varies noticeably across warehouses — Whse_S and Whse_C show higher median demand than </a:t>
            </a:r>
            <a:r>
              <a:rPr lang="en-US" sz="1400" dirty="0" err="1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Whse_A</a:t>
            </a:r>
            <a:r>
              <a:rPr lang="en-US" sz="14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Demand Forecasting — Review 2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ADC783-E561-F1EA-5AC8-100B9FD94765}"/>
              </a:ext>
            </a:extLst>
          </p:cNvPr>
          <p:cNvSpPr/>
          <p:nvPr/>
        </p:nvSpPr>
        <p:spPr>
          <a:xfrm>
            <a:off x="3069771" y="1463040"/>
            <a:ext cx="3193869" cy="26312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47869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Feature Correlation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667512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lot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0"/>
            <a:ext cx="621792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43800" y="1188720"/>
            <a:ext cx="4023360" cy="4937760"/>
          </a:xfrm>
          <a:prstGeom prst="roundRect">
            <a:avLst>
              <a:gd name="adj" fmla="val 1364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818120" y="1463040"/>
            <a:ext cx="640080" cy="64008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icon_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1739" y="1616659"/>
            <a:ext cx="332842" cy="3328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1812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818120" y="26974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linear correlation between individual numeric features and demand which means categorical features (Warehouse, Category) likely carry more weight.</a:t>
            </a:r>
            <a:endParaRPr lang="en-US" sz="16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strong multicollinearity among these raw numeric features.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Demand Forecasting — Review 2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Demand by Product Category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45236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lot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63040"/>
            <a:ext cx="699516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188720"/>
            <a:ext cx="3246120" cy="4937760"/>
          </a:xfrm>
          <a:prstGeom prst="roundRect">
            <a:avLst>
              <a:gd name="adj" fmla="val 169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8595360" y="1463040"/>
            <a:ext cx="640080" cy="64008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icon_tren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8979" y="1616659"/>
            <a:ext cx="332842" cy="3328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9536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595360" y="2697480"/>
            <a:ext cx="2697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Category_033 dominates average demand — more than double the next highest category.</a:t>
            </a:r>
            <a:endParaRPr lang="en-US" sz="1250" dirty="0"/>
          </a:p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steep drop-off after the top 3 categories suggests category-level effects are highly uneven, not gradual.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Reinforces Product_Category as a key feature, and hints Lasso may zero out several low-impact category dummies.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Demand Forecasting — Review 2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&amp; Train/Test Split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172090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57276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Product_id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2286000"/>
            <a:ext cx="31546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169,211 unique values across 169,211 rows — a per-row ID, not a stable product identifier. Carries no signal, so it's dropped.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89120" y="137160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617720" y="1600200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icon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421" y="172090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157276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 Split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617720" y="2286000"/>
            <a:ext cx="31546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split into train (~118K), validation (~25K), and test (~25K) sets before any target encoding or scaling is fit.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38160" y="137160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8366760" y="1600200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icon_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7461" y="172090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06840" y="157276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New Features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366760" y="2286000"/>
            <a:ext cx="31546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Is_Weekend (from DayOfWeek) and Promo_Or_Holiday, a combined promotion/holiday flag — both motivated by the EDA.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2446020" y="393192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2674620" y="4160520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icon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5321" y="4281221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314700" y="41330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Target-Encode Product_Code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2674620" y="4846320"/>
            <a:ext cx="31546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2,117 products mean-encoded by average Order_Demand, fit on the training set only so validation/test data never leaks in.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332220" y="3937145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6560820" y="4165745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icon_tren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1521" y="4286446"/>
            <a:ext cx="261518" cy="26151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200900" y="4138313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Numeric Features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560820" y="4851545"/>
            <a:ext cx="31546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Month, Day, DayOfWeek, Petrol_price, and the new target encoding — standardized together, fit on train only.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Demand Forecasting — Review 2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(L2) vs Lasso (L1) Regression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594360" cy="59436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icon_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46" y="201716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476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(L2)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penalty proportional to the sum of squared coefficients.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coefficients toward zero but rarely to exactly zero — keeps all features.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most features contribute at least a little to the outcome.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multicollinearity by distributing weight across correlated features.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349240" cy="4480560"/>
          </a:xfrm>
          <a:prstGeom prst="roundRect">
            <a:avLst>
              <a:gd name="adj" fmla="val 142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446520" y="1874520"/>
            <a:ext cx="594360" cy="59436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icon_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166" y="201716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9476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Regression (L1)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46520" y="260604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penalty proportional to the sum of absolute coefficient values.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shrink less useful coefficients exactly to zero — performs automatic feature selection.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only a subset of features (e.g. a few dominant categories) truly matter.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interpretability with 30+ one-hot encoded category columns.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Demand Forecasting — Review 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 &amp; Tuning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over a log-spaced alpha grid, using RidgeCV and LassoCV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831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719072"/>
            <a:ext cx="25831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5831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Candidates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06140" y="1600200"/>
            <a:ext cx="25831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06140" y="1719072"/>
            <a:ext cx="25831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06140" y="2286000"/>
            <a:ext cx="25831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Folds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25831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172200" y="1719072"/>
            <a:ext cx="25831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72200" y="2286000"/>
            <a:ext cx="25831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Ridge 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38260" y="1600200"/>
            <a:ext cx="25831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938260" y="1719072"/>
            <a:ext cx="25831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938260" y="2286000"/>
            <a:ext cx="25831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Lasso 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Details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41248" y="3959352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42416" y="38130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</a:t>
            </a: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(OLS), unregularized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27648" y="3959352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28816" y="38130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(L2) </a:t>
            </a: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RidgeCV, 5-fold cross-validation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41248" y="4526280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42416" y="437997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(L1) </a:t>
            </a: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LassoCV, 5-fold CV, max_iter=5000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41248" y="5093208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042416" y="49469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Ridge alpha </a:t>
            </a: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26.4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27648" y="4526280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528816" y="437997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Lasso alpha </a:t>
            </a: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0.34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41248" y="5660136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042416" y="55138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 size </a:t>
            </a: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~118,000 records (70% of data)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327648" y="5093208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528816" y="49469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</a:t>
            </a: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RidgeCV / LassoCV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AED94B06-1DBE-1FA6-622D-5644254CF5DA}"/>
              </a:ext>
            </a:extLst>
          </p:cNvPr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Demand Forecasting — Review 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47869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667512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eva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71600"/>
            <a:ext cx="6217920" cy="452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43800" y="1188720"/>
            <a:ext cx="4023360" cy="4937760"/>
          </a:xfrm>
          <a:prstGeom prst="roundRect">
            <a:avLst>
              <a:gd name="adj" fmla="val 1364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818120" y="1463040"/>
            <a:ext cx="640080" cy="64008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icon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1739" y="1616659"/>
            <a:ext cx="332842" cy="3328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1812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818120" y="26974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OLS, Ridge, and Lasso perform almost identically on validation — RMSE ≈ 9,298 and R² ≈ 0.333 for all three.</a:t>
            </a:r>
            <a:endParaRPr lang="en-US" sz="16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isn't fighting heavy overfitting at this dataset size — but Lasso remains the more useful model, since it also selects features.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Demand Forecasting — Review 2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 &amp; Interpretation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45236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lasso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63040"/>
            <a:ext cx="6995160" cy="415601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188720"/>
            <a:ext cx="3246120" cy="4937760"/>
          </a:xfrm>
          <a:prstGeom prst="roundRect">
            <a:avLst>
              <a:gd name="adj" fmla="val 169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8595360" y="1463040"/>
            <a:ext cx="640080" cy="64008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icon_tre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979" y="1616659"/>
            <a:ext cx="332842" cy="3328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9536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595360" y="2697480"/>
            <a:ext cx="2697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zeroes out 14 of 45 features entirely — automatic feature selection that directly answers which factors drive demand.</a:t>
            </a:r>
            <a:endParaRPr lang="en-US" sz="1250" dirty="0"/>
          </a:p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Product_Code_TargetEnc dominates by a wide margin, followed by Warehouse and select Product_Category dummies — echoing the EDA.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untouched test set, Lasso holds at R² ≈ 0.33, confirming the validation result generalizes.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Demand Forecasting — Review 2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777240" cy="77724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icon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18" y="1603858"/>
            <a:ext cx="404165" cy="4041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141732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predicts product order demand using Ridge and Lasso regression — delivering both a working model and clear insight into which factors actually drive demand.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3429000"/>
            <a:ext cx="617220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914400" y="36393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4041648"/>
            <a:ext cx="56692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OLS, Ridge, and Lasso all reach R² ≈ 0.33 on validation and test — here, regularization helps mainly through interpretability, not raw accuracy.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zeroes out 14 of 45 engineered features automatically, cleanly separating signal from noise among the one-hot category columns.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identity (via target encoding), Warehouse, and a handful of Product Categories are the dominant drivers of demand.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086600" y="1417320"/>
            <a:ext cx="4480560" cy="4617720"/>
          </a:xfrm>
          <a:prstGeom prst="roundRect">
            <a:avLst>
              <a:gd name="adj" fmla="val 1224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406640" y="1691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06640" y="2148840"/>
            <a:ext cx="3886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optional Streamlit/FastAPI wrapper around the trained Lasso model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signal: lag / rolling-window demand features for short-term momentum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models: benchmark against Random Forest / XGBoost as a stretch goal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tuning: explore whether alpha should vary by product category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updated notebook, EDA report, and this review deck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Demand Forecasting — Review 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Research Paper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239906"/>
            <a:ext cx="11091672" cy="2826615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90267" y="2609281"/>
            <a:ext cx="657165" cy="607892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314" y="2726888"/>
            <a:ext cx="339508" cy="3726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64791" y="2609281"/>
            <a:ext cx="8761489" cy="8479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Demand Forecasting: A Comparative Study for Multivariate Time Series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783079" y="2965214"/>
            <a:ext cx="8761489" cy="3957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Haque, Amin &amp; Miah (2023)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764791" y="3660339"/>
            <a:ext cx="9509761" cy="11306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Lasso, Ridge, LightGBM, XGBoost, and Decision Tree on Walmart retail sales data enriched with macroeconomic variables. Compares RMSE/MAE across models. direct benchmark for this project's model choices.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Demand Forecasting — Review 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4">
            <a:extLst>
              <a:ext uri="{FF2B5EF4-FFF2-40B4-BE49-F238E27FC236}">
                <a16:creationId xmlns:a16="http://schemas.microsoft.com/office/drawing/2014/main" id="{6DB063C7-96A1-DA02-172A-394C63073484}"/>
              </a:ext>
            </a:extLst>
          </p:cNvPr>
          <p:cNvSpPr/>
          <p:nvPr/>
        </p:nvSpPr>
        <p:spPr>
          <a:xfrm>
            <a:off x="3352800" y="2624234"/>
            <a:ext cx="5486400" cy="1609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869240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147</TotalTime>
  <Words>1393</Words>
  <Application>Microsoft Office PowerPoint</Application>
  <PresentationFormat>Widescreen</PresentationFormat>
  <Paragraphs>178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Kairav Vashi</cp:lastModifiedBy>
  <cp:revision>14</cp:revision>
  <dcterms:created xsi:type="dcterms:W3CDTF">2026-08-26T09:12:48Z</dcterms:created>
  <dcterms:modified xsi:type="dcterms:W3CDTF">2026-09-28T09:55:54Z</dcterms:modified>
</cp:coreProperties>
</file>