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B2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13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5451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1465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7892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4481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3797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8113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8892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9728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1891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020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5948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407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26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A6EA5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FF6B6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PROJECT REVIEW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Demand Forecasting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9D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Ridge and Lasso Regression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27734" y="3520440"/>
            <a:ext cx="1906905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694944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00125" y="3992881"/>
            <a:ext cx="5838825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400" b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KAIRAV VASHI</a:t>
            </a:r>
            <a:endParaRPr lang="en-US" sz="14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400" b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2520030582</a:t>
            </a:r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8</a:t>
            </a:r>
            <a:endParaRPr lang="en-US" sz="14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400" b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Mr. Asif Shaik</a:t>
            </a:r>
            <a:endParaRPr lang="en-US" sz="14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400" b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(Assistant Professor, Department of CSE)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4178808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A.Y. 2026-27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E03128-A081-A77D-2113-EBDB2FE434AE}"/>
              </a:ext>
            </a:extLst>
          </p:cNvPr>
          <p:cNvSpPr txBox="1"/>
          <p:nvPr/>
        </p:nvSpPr>
        <p:spPr>
          <a:xfrm>
            <a:off x="927734" y="3196768"/>
            <a:ext cx="1125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Batch 29</a:t>
            </a:r>
            <a:endParaRPr lang="en-IN" dirty="0">
              <a:solidFill>
                <a:schemeClr val="accent3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777240" cy="77724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603858"/>
            <a:ext cx="404165" cy="404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product's order demand on a given day using historical demand data, warehouse, product category, promotions, holidays, and petrol price — so retailers can plan inventory and procurement more accurately.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429000"/>
            <a:ext cx="617220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14400" y="36393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Ridge &amp; Lasso?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041648"/>
            <a:ext cx="5669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Warehouse and Product_Category (30+ categories) creates many correlated features — a classic multicollinearity scenario.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linear regression overfits under these conditions; L2 (Ridge) and L1 (Lasso) regularization directly address this.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additionally performs automatic feature selection — useful with 30+ engineered category columns.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086600" y="1417320"/>
            <a:ext cx="4480560" cy="4617720"/>
          </a:xfrm>
          <a:prstGeom prst="roundRect">
            <a:avLst>
              <a:gd name="adj" fmla="val 122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40664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06640" y="2148840"/>
            <a:ext cx="3886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Supervised Regression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Order_Demand (continuous)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Ridge Regression, Lasso Regression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RMSE, MAE, MAPE, R²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model + coefficient analysis retailers can use for inventory planning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Retail_Dataset.csv — historical daily product order demand, sourced from Kaggle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831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2583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169,211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583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6140" y="1600200"/>
            <a:ext cx="25831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06140" y="1719072"/>
            <a:ext cx="2583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06140" y="2286000"/>
            <a:ext cx="2583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25831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72200" y="1719072"/>
            <a:ext cx="2583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2286000"/>
            <a:ext cx="2583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38260" y="1600200"/>
            <a:ext cx="25831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938260" y="1719072"/>
            <a:ext cx="2583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2,117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38260" y="2286000"/>
            <a:ext cx="2583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1248" y="395935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42416" y="3813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Product_Code / Product_id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identifiers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27648" y="395935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28816" y="3813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categories (A, C, J, S)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1248" y="4526280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42416" y="43799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categories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27648" y="4526280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28816" y="43799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41248" y="5093208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42416" y="49469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Order_Demand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27648" y="5093208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28816" y="49469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Promo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status &amp; promotion flags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1248" y="5660136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42416" y="55138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StateHoliday, SchoolHoliday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indicators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27648" y="5660136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28816" y="55138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Petrol_price  </a:t>
            </a: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fuel price index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AED94B06-1DBE-1FA6-622D-5644254CF5DA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72090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727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&amp; Duplicates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explicitly — none found in either full-row duplicates or duplicate (Product, Date) pairs.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37160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617720" y="16002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172090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5727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17720" y="228600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as M/D/YYYY; extracted Year, Month, Day, and DayOfWeek as separate numeric features.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366760" y="16002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icon_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172090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06840" y="15727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366760" y="228600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Order_Demand capped at the 99th percentile so that extreme bulk orders no longer dominate the loss function.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2446020" y="39319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2674620" y="416052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321" y="428122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14700" y="41330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674620" y="484632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Warehouse, StateHoliday, and Product_Category.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332220" y="3937145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560820" y="4165745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icon_tren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1521" y="4286446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00900" y="4138313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560820" y="4851545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Petrol_price standardized using StandardScaler. Important since Ridge/Lasso penalize coefficient magnitude.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1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Demand Distribution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4523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lo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7400"/>
            <a:ext cx="69951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188720"/>
            <a:ext cx="3246120" cy="4937760"/>
          </a:xfrm>
          <a:prstGeom prst="roundRect">
            <a:avLst>
              <a:gd name="adj" fmla="val 169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59536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95360" y="1920240"/>
            <a:ext cx="2697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Order_Demand is extremely right-skewed — most orders are small, but rare bulk orders reach 2.5M units.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untreated, these extreme values would dominate the regression loss and distort model coefficients.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at the 99th percentile (right chart) produces a distribution the model can actually learn from.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Demand by Warehouse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4523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lo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63040"/>
            <a:ext cx="69951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188720"/>
            <a:ext cx="3246120" cy="4937760"/>
          </a:xfrm>
          <a:prstGeom prst="roundRect">
            <a:avLst>
              <a:gd name="adj" fmla="val 169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595360" y="146304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icon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979" y="1616659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9536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595360" y="2697480"/>
            <a:ext cx="2697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varies noticeably across warehouses — Whse_S and Whse_C show higher median demand than Whse_A.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warehouses show long tails of high-demand outliers, and is likely a strong predictor — supports one-hot encoding it as a feature.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ADC783-E561-F1EA-5AC8-100B9FD94765}"/>
              </a:ext>
            </a:extLst>
          </p:cNvPr>
          <p:cNvSpPr/>
          <p:nvPr/>
        </p:nvSpPr>
        <p:spPr>
          <a:xfrm>
            <a:off x="3069771" y="1463040"/>
            <a:ext cx="3193869" cy="26312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4786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Feature Correlation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66751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lot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621792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188720"/>
            <a:ext cx="4023360" cy="4937760"/>
          </a:xfrm>
          <a:prstGeom prst="roundRect">
            <a:avLst>
              <a:gd name="adj" fmla="val 136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818120" y="146304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icon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739" y="1616659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1812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818120" y="26974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linear correlation between individual numeric features and demand which means categorical features (Warehouse, Category) likely carry more weight.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multicollinearity among these raw numeric features.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Demand by Product Category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4523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lot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63040"/>
            <a:ext cx="69951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188720"/>
            <a:ext cx="3246120" cy="4937760"/>
          </a:xfrm>
          <a:prstGeom prst="roundRect">
            <a:avLst>
              <a:gd name="adj" fmla="val 169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595360" y="146304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icon_tre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979" y="1616659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9536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595360" y="2697480"/>
            <a:ext cx="2697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Category_033 dominates average demand — more than double the next highest category.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steep drop-off after the top 3 categories suggests category-level effects are highly uneven, not gradual.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Product_Category as a key feature, and hints Lasso may zero out several low-impact category dummies.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 vs Lasso (L1) Regression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594360" cy="59436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20171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(L2)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penalty proportional to the sum of squared coefficients.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coefficients toward zero but rarely to exactly zero — keeps all features.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most features contribute at least a little to the outcome.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multicollinearity by distributing weight across correlated features.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49240" cy="4480560"/>
          </a:xfrm>
          <a:prstGeom prst="roundRect">
            <a:avLst>
              <a:gd name="adj" fmla="val 142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46520" y="187452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_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20171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 (L1)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4652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penalty proportional to the sum of absolute coefficient values.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shrink less useful coefficients exactly to zero — performs automatic feature selection.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only a subset of features (e.g. a few dominant categories) truly matter.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interpretability with 30+ one-hot encoded category columns.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Research Paper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239906"/>
            <a:ext cx="11091672" cy="2826615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90267" y="2609281"/>
            <a:ext cx="657165" cy="607892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314" y="2726888"/>
            <a:ext cx="339508" cy="3726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64791" y="2609281"/>
            <a:ext cx="8761489" cy="8479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Demand Forecasting: A Comparative Study for Multivariate Time Series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783079" y="2965214"/>
            <a:ext cx="8761489" cy="3957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Haque, Amin &amp; Miah (2023)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64791" y="3660339"/>
            <a:ext cx="9509761" cy="1130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Lasso, Ridge, LightGBM, XGBoost, and Decision Tree on Walmart retail sales data enriched with macroeconomic variables. Compares RMSE/MAE across models. direct benchmark for this project's model choices.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Forecasting — Review 1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4">
            <a:extLst>
              <a:ext uri="{FF2B5EF4-FFF2-40B4-BE49-F238E27FC236}">
                <a16:creationId xmlns:a16="http://schemas.microsoft.com/office/drawing/2014/main" id="{6DB063C7-96A1-DA02-172A-394C63073484}"/>
              </a:ext>
            </a:extLst>
          </p:cNvPr>
          <p:cNvSpPr/>
          <p:nvPr/>
        </p:nvSpPr>
        <p:spPr>
          <a:xfrm>
            <a:off x="3352800" y="2624234"/>
            <a:ext cx="5486400" cy="1609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86924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116</TotalTime>
  <Words>855</Words>
  <Application>Microsoft Office PowerPoint</Application>
  <PresentationFormat>Widescreen</PresentationFormat>
  <Paragraphs>119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Kairav Vashi</cp:lastModifiedBy>
  <cp:revision>10</cp:revision>
  <dcterms:created xsi:type="dcterms:W3CDTF">2026-08-26T09:12:48Z</dcterms:created>
  <dcterms:modified xsi:type="dcterms:W3CDTF">2026-08-28T08:08:53Z</dcterms:modified>
</cp:coreProperties>
</file>